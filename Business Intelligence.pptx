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2" autoAdjust="0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4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9498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00C9E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-365760"/>
            <a:ext cx="3200400" cy="3200400"/>
          </a:xfrm>
          <a:prstGeom prst="ellipse">
            <a:avLst/>
          </a:prstGeom>
          <a:solidFill>
            <a:srgbClr val="00C9E0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188720"/>
            <a:ext cx="64008" cy="2743200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</a:t>
            </a: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Sales Intelligence Platform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999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•  PHP  •  MySQL  •  Python ML/AI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Covered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658368"/>
            <a:ext cx="2084832" cy="82296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658368"/>
            <a:ext cx="54864" cy="822960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7680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57800" y="841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67728" y="658368"/>
            <a:ext cx="2084832" cy="82296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16" name="Shape 14"/>
          <p:cNvSpPr/>
          <p:nvPr/>
        </p:nvSpPr>
        <p:spPr>
          <a:xfrm>
            <a:off x="6967728" y="658368"/>
            <a:ext cx="54864" cy="8229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7" name="Text 15"/>
          <p:cNvSpPr/>
          <p:nvPr/>
        </p:nvSpPr>
        <p:spPr>
          <a:xfrm>
            <a:off x="7059168" y="7680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70648" y="841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Calendar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664208"/>
            <a:ext cx="2084832" cy="82296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664208"/>
            <a:ext cx="54864" cy="822960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7739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57800" y="18470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Stock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67728" y="1664208"/>
            <a:ext cx="2084832" cy="82296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24" name="Shape 22"/>
          <p:cNvSpPr/>
          <p:nvPr/>
        </p:nvSpPr>
        <p:spPr>
          <a:xfrm>
            <a:off x="6967728" y="1664208"/>
            <a:ext cx="54864" cy="8229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5" name="Text 23"/>
          <p:cNvSpPr/>
          <p:nvPr/>
        </p:nvSpPr>
        <p:spPr>
          <a:xfrm>
            <a:off x="7059168" y="17739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70648" y="18470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Tracker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670048"/>
            <a:ext cx="2084832" cy="82296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2670048"/>
            <a:ext cx="54864" cy="822960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7797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💹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257800" y="28529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67728" y="2670048"/>
            <a:ext cx="2084832" cy="82296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32" name="Shape 30"/>
          <p:cNvSpPr/>
          <p:nvPr/>
        </p:nvSpPr>
        <p:spPr>
          <a:xfrm>
            <a:off x="6967728" y="2670048"/>
            <a:ext cx="54864" cy="8229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3" name="Text 31"/>
          <p:cNvSpPr/>
          <p:nvPr/>
        </p:nvSpPr>
        <p:spPr>
          <a:xfrm>
            <a:off x="7059168" y="27797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470648" y="28529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Forecast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675888"/>
            <a:ext cx="2084832" cy="82296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36" name="Shape 34"/>
          <p:cNvSpPr/>
          <p:nvPr/>
        </p:nvSpPr>
        <p:spPr>
          <a:xfrm>
            <a:off x="4754880" y="3675888"/>
            <a:ext cx="54864" cy="822960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7856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257800" y="3858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967728" y="3675888"/>
            <a:ext cx="2084832" cy="82296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40" name="Shape 38"/>
          <p:cNvSpPr/>
          <p:nvPr/>
        </p:nvSpPr>
        <p:spPr>
          <a:xfrm>
            <a:off x="6967728" y="3675888"/>
            <a:ext cx="54864" cy="8229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1" name="Text 39"/>
          <p:cNvSpPr/>
          <p:nvPr/>
        </p:nvSpPr>
        <p:spPr>
          <a:xfrm>
            <a:off x="7059168" y="37856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470648" y="3858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4828032"/>
            <a:ext cx="4572000" cy="315468"/>
          </a:xfrm>
          <a:prstGeom prst="rect">
            <a:avLst/>
          </a:prstGeom>
          <a:solidFill>
            <a:srgbClr val="060E17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" y="4846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Srinivasan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0" y="109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pic>
        <p:nvPicPr>
          <p:cNvPr id="7" name="Image 0" descr="/mnt/user-data/uploads/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13232"/>
            <a:ext cx="5852160" cy="41879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44768" y="685800"/>
            <a:ext cx="2907792" cy="420624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9" name="Shape 6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0" name="Text 7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91072" y="1170432"/>
            <a:ext cx="310896" cy="310896"/>
          </a:xfrm>
          <a:prstGeom prst="ellipse">
            <a:avLst/>
          </a:prstGeom>
          <a:solidFill>
            <a:srgbClr val="00C9E0"/>
          </a:solidFill>
          <a:ln/>
        </p:spPr>
      </p:sp>
      <p:sp>
        <p:nvSpPr>
          <p:cNvPr id="12" name="Text 9"/>
          <p:cNvSpPr/>
          <p:nvPr/>
        </p:nvSpPr>
        <p:spPr>
          <a:xfrm>
            <a:off x="6291072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38544" y="1133856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638544" y="1133856"/>
            <a:ext cx="54864" cy="1005840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15" name="Text 12"/>
          <p:cNvSpPr/>
          <p:nvPr/>
        </p:nvSpPr>
        <p:spPr>
          <a:xfrm>
            <a:off x="6729984" y="11521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Cards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29984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revenue, bills, weekly &amp; monthly totals — all live from MySQL DB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91072" y="2340864"/>
            <a:ext cx="310896" cy="3108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8" name="Text 15"/>
          <p:cNvSpPr/>
          <p:nvPr/>
        </p:nvSpPr>
        <p:spPr>
          <a:xfrm>
            <a:off x="62910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38544" y="2304288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0" name="Shape 17"/>
          <p:cNvSpPr/>
          <p:nvPr/>
        </p:nvSpPr>
        <p:spPr>
          <a:xfrm>
            <a:off x="6638544" y="2304288"/>
            <a:ext cx="54864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1" name="Text 18"/>
          <p:cNvSpPr/>
          <p:nvPr/>
        </p:nvSpPr>
        <p:spPr>
          <a:xfrm>
            <a:off x="6729984" y="23225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Charts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29984" y="26334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area chart + top products bar chart updated in real 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91072" y="3511296"/>
            <a:ext cx="310896" cy="3108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4" name="Text 21"/>
          <p:cNvSpPr/>
          <p:nvPr/>
        </p:nvSpPr>
        <p:spPr>
          <a:xfrm>
            <a:off x="6291072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38544" y="3474720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6" name="Shape 23"/>
          <p:cNvSpPr/>
          <p:nvPr/>
        </p:nvSpPr>
        <p:spPr>
          <a:xfrm>
            <a:off x="6638544" y="3474720"/>
            <a:ext cx="54864" cy="10058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4"/>
          <p:cNvSpPr/>
          <p:nvPr/>
        </p:nvSpPr>
        <p:spPr>
          <a:xfrm>
            <a:off x="6729984" y="3493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Payment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29984" y="380390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+ payment method breakdown (UPI, Cash, Card)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0E17"/>
          </a:solidFill>
          <a:ln/>
        </p:spPr>
      </p:sp>
      <p:sp>
        <p:nvSpPr>
          <p:cNvPr id="30" name="Text 27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Srinivasan  •  Business Intelligence Platform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Sales Calendar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0" y="109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pic>
        <p:nvPicPr>
          <p:cNvPr id="7" name="Image 0" descr="/mnt/user-data/uploads/Sales_Calend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13232"/>
            <a:ext cx="5852160" cy="41879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44768" y="685800"/>
            <a:ext cx="2907792" cy="420624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9" name="Shape 6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0" name="Text 7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91072" y="1170432"/>
            <a:ext cx="310896" cy="310896"/>
          </a:xfrm>
          <a:prstGeom prst="ellipse">
            <a:avLst/>
          </a:prstGeom>
          <a:solidFill>
            <a:srgbClr val="00C9E0"/>
          </a:solidFill>
          <a:ln/>
        </p:spPr>
      </p:sp>
      <p:sp>
        <p:nvSpPr>
          <p:cNvPr id="12" name="Text 9"/>
          <p:cNvSpPr/>
          <p:nvPr/>
        </p:nvSpPr>
        <p:spPr>
          <a:xfrm>
            <a:off x="6291072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38544" y="1133856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638544" y="1133856"/>
            <a:ext cx="54864" cy="1005840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15" name="Text 12"/>
          <p:cNvSpPr/>
          <p:nvPr/>
        </p:nvSpPr>
        <p:spPr>
          <a:xfrm>
            <a:off x="6729984" y="11521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Map Calendar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29984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 colored by performance — Excellent, Good, Moderate, Low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91072" y="2340864"/>
            <a:ext cx="310896" cy="3108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8" name="Text 15"/>
          <p:cNvSpPr/>
          <p:nvPr/>
        </p:nvSpPr>
        <p:spPr>
          <a:xfrm>
            <a:off x="62910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38544" y="2304288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0" name="Shape 17"/>
          <p:cNvSpPr/>
          <p:nvPr/>
        </p:nvSpPr>
        <p:spPr>
          <a:xfrm>
            <a:off x="6638544" y="2304288"/>
            <a:ext cx="54864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1" name="Text 18"/>
          <p:cNvSpPr/>
          <p:nvPr/>
        </p:nvSpPr>
        <p:spPr>
          <a:xfrm>
            <a:off x="6729984" y="23225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Day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29984" y="26334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date to view that day's bill details &amp; revenue breakdown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91072" y="3511296"/>
            <a:ext cx="310896" cy="3108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4" name="Text 21"/>
          <p:cNvSpPr/>
          <p:nvPr/>
        </p:nvSpPr>
        <p:spPr>
          <a:xfrm>
            <a:off x="6291072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38544" y="3474720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6" name="Shape 23"/>
          <p:cNvSpPr/>
          <p:nvPr/>
        </p:nvSpPr>
        <p:spPr>
          <a:xfrm>
            <a:off x="6638544" y="3474720"/>
            <a:ext cx="54864" cy="10058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4"/>
          <p:cNvSpPr/>
          <p:nvPr/>
        </p:nvSpPr>
        <p:spPr>
          <a:xfrm>
            <a:off x="6729984" y="3493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Tracker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29984" y="380390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festivals shown — Holi, Tamil New Year, Labour Day &amp; more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0E17"/>
          </a:solidFill>
          <a:ln/>
        </p:spPr>
      </p:sp>
      <p:sp>
        <p:nvSpPr>
          <p:cNvPr id="30" name="Text 27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Srinivasan  •  Business Intelligence Platform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Products &amp; Stock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0" y="109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pic>
        <p:nvPicPr>
          <p:cNvPr id="7" name="Image 0" descr="/mnt/user-data/uploads/Product___Stock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13232"/>
            <a:ext cx="5852160" cy="41879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44768" y="685800"/>
            <a:ext cx="2907792" cy="420624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9" name="Shape 6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0" name="Text 7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91072" y="1170432"/>
            <a:ext cx="310896" cy="310896"/>
          </a:xfrm>
          <a:prstGeom prst="ellipse">
            <a:avLst/>
          </a:prstGeom>
          <a:solidFill>
            <a:srgbClr val="00C9E0"/>
          </a:solidFill>
          <a:ln/>
        </p:spPr>
      </p:sp>
      <p:sp>
        <p:nvSpPr>
          <p:cNvPr id="12" name="Text 9"/>
          <p:cNvSpPr/>
          <p:nvPr/>
        </p:nvSpPr>
        <p:spPr>
          <a:xfrm>
            <a:off x="6291072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38544" y="1133856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638544" y="1133856"/>
            <a:ext cx="54864" cy="1005840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15" name="Text 12"/>
          <p:cNvSpPr/>
          <p:nvPr/>
        </p:nvSpPr>
        <p:spPr>
          <a:xfrm>
            <a:off x="6729984" y="11521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1386 Products Live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29984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catalog with price, cost, margin, stock &amp; expiry days per product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91072" y="2340864"/>
            <a:ext cx="310896" cy="3108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8" name="Text 15"/>
          <p:cNvSpPr/>
          <p:nvPr/>
        </p:nvSpPr>
        <p:spPr>
          <a:xfrm>
            <a:off x="62910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38544" y="2304288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0" name="Shape 17"/>
          <p:cNvSpPr/>
          <p:nvPr/>
        </p:nvSpPr>
        <p:spPr>
          <a:xfrm>
            <a:off x="6638544" y="2304288"/>
            <a:ext cx="54864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1" name="Text 18"/>
          <p:cNvSpPr/>
          <p:nvPr/>
        </p:nvSpPr>
        <p:spPr>
          <a:xfrm>
            <a:off x="6729984" y="23225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Status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29984" y="26334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Healthy, Low Stock &amp; Out-of-Stock badges — reorder point auto-tracked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91072" y="3511296"/>
            <a:ext cx="310896" cy="3108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4" name="Text 21"/>
          <p:cNvSpPr/>
          <p:nvPr/>
        </p:nvSpPr>
        <p:spPr>
          <a:xfrm>
            <a:off x="6291072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38544" y="3474720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6" name="Shape 23"/>
          <p:cNvSpPr/>
          <p:nvPr/>
        </p:nvSpPr>
        <p:spPr>
          <a:xfrm>
            <a:off x="6638544" y="3474720"/>
            <a:ext cx="54864" cy="10058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4"/>
          <p:cNvSpPr/>
          <p:nvPr/>
        </p:nvSpPr>
        <p:spPr>
          <a:xfrm>
            <a:off x="6729984" y="3493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Edit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29984" y="380390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name/category, sort, add new products or edit existing ones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0E17"/>
          </a:solidFill>
          <a:ln/>
        </p:spPr>
      </p:sp>
      <p:sp>
        <p:nvSpPr>
          <p:cNvPr id="30" name="Text 27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Srinivasan  •  Business Intelligence Platform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Expiry Tracker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0" y="109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pic>
        <p:nvPicPr>
          <p:cNvPr id="7" name="Image 0" descr="/mnt/user-data/uploads/Expiry_Track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13232"/>
            <a:ext cx="5852160" cy="41879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44768" y="685800"/>
            <a:ext cx="2907792" cy="420624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9" name="Shape 6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0" name="Text 7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91072" y="1170432"/>
            <a:ext cx="310896" cy="310896"/>
          </a:xfrm>
          <a:prstGeom prst="ellipse">
            <a:avLst/>
          </a:prstGeom>
          <a:solidFill>
            <a:srgbClr val="00C9E0"/>
          </a:solidFill>
          <a:ln/>
        </p:spPr>
      </p:sp>
      <p:sp>
        <p:nvSpPr>
          <p:cNvPr id="12" name="Text 9"/>
          <p:cNvSpPr/>
          <p:nvPr/>
        </p:nvSpPr>
        <p:spPr>
          <a:xfrm>
            <a:off x="6291072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38544" y="1133856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638544" y="1133856"/>
            <a:ext cx="54864" cy="1005840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15" name="Text 12"/>
          <p:cNvSpPr/>
          <p:nvPr/>
        </p:nvSpPr>
        <p:spPr>
          <a:xfrm>
            <a:off x="6729984" y="11521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Critical Items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29984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expiring ≤2 days — ₹33,72,240 at risk, take action immediately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91072" y="2340864"/>
            <a:ext cx="310896" cy="3108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8" name="Text 15"/>
          <p:cNvSpPr/>
          <p:nvPr/>
        </p:nvSpPr>
        <p:spPr>
          <a:xfrm>
            <a:off x="62910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38544" y="2304288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0" name="Shape 17"/>
          <p:cNvSpPr/>
          <p:nvPr/>
        </p:nvSpPr>
        <p:spPr>
          <a:xfrm>
            <a:off x="6638544" y="2304288"/>
            <a:ext cx="54864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1" name="Text 18"/>
          <p:cNvSpPr/>
          <p:nvPr/>
        </p:nvSpPr>
        <p:spPr>
          <a:xfrm>
            <a:off x="6729984" y="23225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Actions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29984" y="26334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Discount / Return to supplier buttons on every expiring item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91072" y="3511296"/>
            <a:ext cx="310896" cy="3108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4" name="Text 21"/>
          <p:cNvSpPr/>
          <p:nvPr/>
        </p:nvSpPr>
        <p:spPr>
          <a:xfrm>
            <a:off x="6291072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38544" y="3474720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6" name="Shape 23"/>
          <p:cNvSpPr/>
          <p:nvPr/>
        </p:nvSpPr>
        <p:spPr>
          <a:xfrm>
            <a:off x="6638544" y="3474720"/>
            <a:ext cx="54864" cy="10058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4"/>
          <p:cNvSpPr/>
          <p:nvPr/>
        </p:nvSpPr>
        <p:spPr>
          <a:xfrm>
            <a:off x="6729984" y="3493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Zone-wise Plan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29984" y="380390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→ This Week Plan → Plan Ahead — 3-level strategy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0E17"/>
          </a:solidFill>
          <a:ln/>
        </p:spPr>
      </p:sp>
      <p:sp>
        <p:nvSpPr>
          <p:cNvPr id="30" name="Text 27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Srinivasan  •  Business Intelligence Platform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Profit &amp; Loss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0" y="109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pic>
        <p:nvPicPr>
          <p:cNvPr id="7" name="Image 0" descr="/mnt/user-data/uploads/Profit___Lo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13232"/>
            <a:ext cx="5852160" cy="41879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44768" y="685800"/>
            <a:ext cx="2907792" cy="420624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9" name="Shape 6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0" name="Text 7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91072" y="1170432"/>
            <a:ext cx="310896" cy="310896"/>
          </a:xfrm>
          <a:prstGeom prst="ellipse">
            <a:avLst/>
          </a:prstGeom>
          <a:solidFill>
            <a:srgbClr val="00C9E0"/>
          </a:solidFill>
          <a:ln/>
        </p:spPr>
      </p:sp>
      <p:sp>
        <p:nvSpPr>
          <p:cNvPr id="12" name="Text 9"/>
          <p:cNvSpPr/>
          <p:nvPr/>
        </p:nvSpPr>
        <p:spPr>
          <a:xfrm>
            <a:off x="6291072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38544" y="1133856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638544" y="1133856"/>
            <a:ext cx="54864" cy="1005840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15" name="Text 12"/>
          <p:cNvSpPr/>
          <p:nvPr/>
        </p:nvSpPr>
        <p:spPr>
          <a:xfrm>
            <a:off x="6729984" y="11521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P&amp;L Statement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29984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revenue ₹25,510 — COGS ₹18,611 — Net Profit ₹4,348 (17% margin)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91072" y="2340864"/>
            <a:ext cx="310896" cy="3108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8" name="Text 15"/>
          <p:cNvSpPr/>
          <p:nvPr/>
        </p:nvSpPr>
        <p:spPr>
          <a:xfrm>
            <a:off x="62910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38544" y="2304288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0" name="Shape 17"/>
          <p:cNvSpPr/>
          <p:nvPr/>
        </p:nvSpPr>
        <p:spPr>
          <a:xfrm>
            <a:off x="6638544" y="2304288"/>
            <a:ext cx="54864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1" name="Text 18"/>
          <p:cNvSpPr/>
          <p:nvPr/>
        </p:nvSpPr>
        <p:spPr>
          <a:xfrm>
            <a:off x="6729984" y="23225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Bar Chart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29984" y="26334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&amp; Profit chart — compare revenue, COGS &amp; profit visually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91072" y="3511296"/>
            <a:ext cx="310896" cy="3108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4" name="Text 21"/>
          <p:cNvSpPr/>
          <p:nvPr/>
        </p:nvSpPr>
        <p:spPr>
          <a:xfrm>
            <a:off x="6291072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38544" y="3474720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6" name="Shape 23"/>
          <p:cNvSpPr/>
          <p:nvPr/>
        </p:nvSpPr>
        <p:spPr>
          <a:xfrm>
            <a:off x="6638544" y="3474720"/>
            <a:ext cx="54864" cy="10058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4"/>
          <p:cNvSpPr/>
          <p:nvPr/>
        </p:nvSpPr>
        <p:spPr>
          <a:xfrm>
            <a:off x="6729984" y="3493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Views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29984" y="380390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P&amp;L / By Category / Cost Breakdown / Profit Trend — 4 views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0E17"/>
          </a:solidFill>
          <a:ln/>
        </p:spPr>
      </p:sp>
      <p:sp>
        <p:nvSpPr>
          <p:cNvPr id="30" name="Text 27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Srinivasan  •  Business Intelligence Platform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AI Demand Forecast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0" y="109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pic>
        <p:nvPicPr>
          <p:cNvPr id="7" name="Image 0" descr="/mnt/user-data/uploads/Forecast_Predict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13232"/>
            <a:ext cx="5852160" cy="41879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44768" y="685800"/>
            <a:ext cx="2907792" cy="420624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9" name="Shape 6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0" name="Text 7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91072" y="1170432"/>
            <a:ext cx="310896" cy="310896"/>
          </a:xfrm>
          <a:prstGeom prst="ellipse">
            <a:avLst/>
          </a:prstGeom>
          <a:solidFill>
            <a:srgbClr val="00C9E0"/>
          </a:solidFill>
          <a:ln/>
        </p:spPr>
      </p:sp>
      <p:sp>
        <p:nvSpPr>
          <p:cNvPr id="12" name="Text 9"/>
          <p:cNvSpPr/>
          <p:nvPr/>
        </p:nvSpPr>
        <p:spPr>
          <a:xfrm>
            <a:off x="6291072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38544" y="1133856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638544" y="1133856"/>
            <a:ext cx="54864" cy="1005840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15" name="Text 12"/>
          <p:cNvSpPr/>
          <p:nvPr/>
        </p:nvSpPr>
        <p:spPr>
          <a:xfrm>
            <a:off x="6729984" y="11521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Confidence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29984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 predicts 13-week revenue &amp; units for any product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91072" y="2340864"/>
            <a:ext cx="310896" cy="3108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8" name="Text 15"/>
          <p:cNvSpPr/>
          <p:nvPr/>
        </p:nvSpPr>
        <p:spPr>
          <a:xfrm>
            <a:off x="62910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38544" y="2304288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0" name="Shape 17"/>
          <p:cNvSpPr/>
          <p:nvPr/>
        </p:nvSpPr>
        <p:spPr>
          <a:xfrm>
            <a:off x="6638544" y="2304288"/>
            <a:ext cx="54864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1" name="Text 18"/>
          <p:cNvSpPr/>
          <p:nvPr/>
        </p:nvSpPr>
        <p:spPr>
          <a:xfrm>
            <a:off x="6729984" y="23225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Analysis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29984" y="26334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week, Season, Festival effect &amp; Category trend — all factored 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91072" y="3511296"/>
            <a:ext cx="310896" cy="3108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4" name="Text 21"/>
          <p:cNvSpPr/>
          <p:nvPr/>
        </p:nvSpPr>
        <p:spPr>
          <a:xfrm>
            <a:off x="6291072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38544" y="3474720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6" name="Shape 23"/>
          <p:cNvSpPr/>
          <p:nvPr/>
        </p:nvSpPr>
        <p:spPr>
          <a:xfrm>
            <a:off x="6638544" y="3474720"/>
            <a:ext cx="54864" cy="10058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4"/>
          <p:cNvSpPr/>
          <p:nvPr/>
        </p:nvSpPr>
        <p:spPr>
          <a:xfrm>
            <a:off x="6729984" y="3493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Suggestion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29984" y="380390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recommends when &amp; how much to reorder based on predicted demand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0E17"/>
          </a:solidFill>
          <a:ln/>
        </p:spPr>
      </p:sp>
      <p:sp>
        <p:nvSpPr>
          <p:cNvPr id="30" name="Text 27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Srinivasan  •  Business Intelligence Platform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What-If Simulator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0" y="109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pic>
        <p:nvPicPr>
          <p:cNvPr id="7" name="Image 0" descr="/mnt/user-data/uploads/Simulato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13232"/>
            <a:ext cx="5852160" cy="41879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44768" y="685800"/>
            <a:ext cx="2907792" cy="420624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9" name="Shape 6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0" name="Text 7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91072" y="1170432"/>
            <a:ext cx="310896" cy="310896"/>
          </a:xfrm>
          <a:prstGeom prst="ellipse">
            <a:avLst/>
          </a:prstGeom>
          <a:solidFill>
            <a:srgbClr val="00C9E0"/>
          </a:solidFill>
          <a:ln/>
        </p:spPr>
      </p:sp>
      <p:sp>
        <p:nvSpPr>
          <p:cNvPr id="12" name="Text 9"/>
          <p:cNvSpPr/>
          <p:nvPr/>
        </p:nvSpPr>
        <p:spPr>
          <a:xfrm>
            <a:off x="6291072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38544" y="1133856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638544" y="1133856"/>
            <a:ext cx="54864" cy="1005840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15" name="Text 12"/>
          <p:cNvSpPr/>
          <p:nvPr/>
        </p:nvSpPr>
        <p:spPr>
          <a:xfrm>
            <a:off x="6729984" y="11521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1386 Products Ready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29984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product, adjust sliders — see projected revenue &amp; profit instantly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91072" y="2340864"/>
            <a:ext cx="310896" cy="3108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8" name="Text 15"/>
          <p:cNvSpPr/>
          <p:nvPr/>
        </p:nvSpPr>
        <p:spPr>
          <a:xfrm>
            <a:off x="62910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38544" y="2304288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0" name="Shape 17"/>
          <p:cNvSpPr/>
          <p:nvPr/>
        </p:nvSpPr>
        <p:spPr>
          <a:xfrm>
            <a:off x="6638544" y="2304288"/>
            <a:ext cx="54864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1" name="Text 18"/>
          <p:cNvSpPr/>
          <p:nvPr/>
        </p:nvSpPr>
        <p:spPr>
          <a:xfrm>
            <a:off x="6729984" y="23225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Simulation Sliders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29984" y="26334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 %, Discount %, Stock to Add, Ad Budget (₹/week)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91072" y="3511296"/>
            <a:ext cx="310896" cy="3108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4" name="Text 21"/>
          <p:cNvSpPr/>
          <p:nvPr/>
        </p:nvSpPr>
        <p:spPr>
          <a:xfrm>
            <a:off x="6291072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38544" y="3474720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6" name="Shape 23"/>
          <p:cNvSpPr/>
          <p:nvPr/>
        </p:nvSpPr>
        <p:spPr>
          <a:xfrm>
            <a:off x="6638544" y="3474720"/>
            <a:ext cx="54864" cy="10058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4"/>
          <p:cNvSpPr/>
          <p:nvPr/>
        </p:nvSpPr>
        <p:spPr>
          <a:xfrm>
            <a:off x="6729984" y="3493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Mode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29984" y="380390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simulations use real cost &amp; price data — no guesswork, real results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0E17"/>
          </a:solidFill>
          <a:ln/>
        </p:spPr>
      </p:sp>
      <p:sp>
        <p:nvSpPr>
          <p:cNvPr id="30" name="Text 27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Srinivasan  •  Business Intelligence Platform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Notifications Center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0" y="109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pic>
        <p:nvPicPr>
          <p:cNvPr id="7" name="Image 0" descr="/mnt/user-data/uploads/Notificat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13232"/>
            <a:ext cx="5852160" cy="41879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44768" y="685800"/>
            <a:ext cx="2907792" cy="4206240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9" name="Shape 6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0" name="Text 7"/>
          <p:cNvSpPr/>
          <p:nvPr/>
        </p:nvSpPr>
        <p:spPr>
          <a:xfrm>
            <a:off x="6144768" y="685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91072" y="1170432"/>
            <a:ext cx="310896" cy="310896"/>
          </a:xfrm>
          <a:prstGeom prst="ellipse">
            <a:avLst/>
          </a:prstGeom>
          <a:solidFill>
            <a:srgbClr val="00C9E0"/>
          </a:solidFill>
          <a:ln/>
        </p:spPr>
      </p:sp>
      <p:sp>
        <p:nvSpPr>
          <p:cNvPr id="12" name="Text 9"/>
          <p:cNvSpPr/>
          <p:nvPr/>
        </p:nvSpPr>
        <p:spPr>
          <a:xfrm>
            <a:off x="6291072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38544" y="1133856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638544" y="1133856"/>
            <a:ext cx="54864" cy="1005840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15" name="Text 12"/>
          <p:cNvSpPr/>
          <p:nvPr/>
        </p:nvSpPr>
        <p:spPr>
          <a:xfrm>
            <a:off x="6729984" y="11521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Active Alerts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29984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Critical, Stock, Business &amp; Info alerts — all in one organized center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91072" y="2340864"/>
            <a:ext cx="310896" cy="31089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8" name="Text 15"/>
          <p:cNvSpPr/>
          <p:nvPr/>
        </p:nvSpPr>
        <p:spPr>
          <a:xfrm>
            <a:off x="62910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38544" y="2304288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0" name="Shape 17"/>
          <p:cNvSpPr/>
          <p:nvPr/>
        </p:nvSpPr>
        <p:spPr>
          <a:xfrm>
            <a:off x="6638544" y="2304288"/>
            <a:ext cx="54864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1" name="Text 18"/>
          <p:cNvSpPr/>
          <p:nvPr/>
        </p:nvSpPr>
        <p:spPr>
          <a:xfrm>
            <a:off x="6729984" y="23225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29984" y="26334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Expiry / Upload / Revenue / Tip / GST — find alerts fast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91072" y="3511296"/>
            <a:ext cx="310896" cy="3108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4" name="Text 21"/>
          <p:cNvSpPr/>
          <p:nvPr/>
        </p:nvSpPr>
        <p:spPr>
          <a:xfrm>
            <a:off x="6291072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38544" y="3474720"/>
            <a:ext cx="2331720" cy="100584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26" name="Shape 23"/>
          <p:cNvSpPr/>
          <p:nvPr/>
        </p:nvSpPr>
        <p:spPr>
          <a:xfrm>
            <a:off x="6638544" y="3474720"/>
            <a:ext cx="54864" cy="10058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4"/>
          <p:cNvSpPr/>
          <p:nvPr/>
        </p:nvSpPr>
        <p:spPr>
          <a:xfrm>
            <a:off x="6729984" y="3493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Tips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29984" y="380390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actionable tips — e.g. stock beverages before weekend peak sales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0E17"/>
          </a:solidFill>
          <a:ln/>
        </p:spPr>
      </p:sp>
      <p:sp>
        <p:nvSpPr>
          <p:cNvPr id="30" name="Text 27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Srinivasan  •  Business Intelligence Platform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00C9E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</a:t>
            </a:r>
            <a:r>
              <a:rPr lang="en-US" sz="160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017520"/>
            <a:ext cx="4754880" cy="402336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3017520"/>
            <a:ext cx="64008" cy="402336"/>
          </a:xfrm>
          <a:prstGeom prst="rect">
            <a:avLst/>
          </a:prstGeom>
          <a:solidFill>
            <a:srgbClr val="00C9E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0175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30175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+  Recharts  +  React Router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" y="3493008"/>
            <a:ext cx="4754880" cy="402336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3493008"/>
            <a:ext cx="64008" cy="40233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4930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74520" y="349300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8.x  +  MySQL 8.x  REST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3968496"/>
            <a:ext cx="4754880" cy="402336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3968496"/>
            <a:ext cx="64008" cy="40233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96849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74520" y="396849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 +  Flask  +  scikit-learn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4443984"/>
            <a:ext cx="4754880" cy="402336"/>
          </a:xfrm>
          <a:prstGeom prst="rect">
            <a:avLst/>
          </a:prstGeom>
          <a:solidFill>
            <a:srgbClr val="172435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4443984"/>
            <a:ext cx="64008" cy="40233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4439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74520" y="44439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 +  Google Fonts  +  Custom CSS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0E17"/>
          </a:solidFill>
          <a:ln/>
        </p:spPr>
      </p:sp>
      <p:sp>
        <p:nvSpPr>
          <p:cNvPr id="24" name="Text 22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Srinivasan  •  Business Intelligence Platform  •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657</Words>
  <Application>Microsoft Office PowerPoint</Application>
  <PresentationFormat>On-screen Show (16:9)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Intelligence - SalesIQ Pro</dc:title>
  <dc:subject>PptxGenJS Presentation</dc:subject>
  <dc:creator>Srinivasan</dc:creator>
  <cp:lastModifiedBy>ps xd</cp:lastModifiedBy>
  <cp:revision>12</cp:revision>
  <dcterms:created xsi:type="dcterms:W3CDTF">2026-03-07T16:58:58Z</dcterms:created>
  <dcterms:modified xsi:type="dcterms:W3CDTF">2026-03-13T07:29:50Z</dcterms:modified>
</cp:coreProperties>
</file>